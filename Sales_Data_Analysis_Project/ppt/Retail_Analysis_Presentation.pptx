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Sales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Understanding, Preparation, and Analytics</a:t>
            </a:r>
          </a:p>
          <a:p>
            <a:r>
              <a:t>Phase 9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Analyze customer transaction data to uncover revenue trends.</a:t>
            </a:r>
          </a:p>
          <a:p>
            <a:pPr>
              <a:defRPr sz="2400"/>
            </a:pPr>
            <a:r>
              <a:t>Understand customer behavior and campaign response rates.</a:t>
            </a:r>
          </a:p>
          <a:p>
            <a:pPr>
              <a:defRPr sz="2400"/>
            </a:pPr>
            <a:r>
              <a:t>Demonstrate end-to-end data analytics skills including Data Cleaning, SQL, Python, and Dashboarding.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Customer Transaction History: Detailed logs of retail transactions, including customer ID, transaction date, and amount.</a:t>
            </a:r>
          </a:p>
          <a:p>
            <a:pPr>
              <a:defRPr sz="2400"/>
            </a:pPr>
            <a:r>
              <a:t>Campaign Response Information: Data indicating whether a customer responded (1) or did not respond (0) to marketing.</a:t>
            </a:r>
          </a:p>
          <a:p>
            <a:pPr>
              <a:defRPr sz="2400"/>
            </a:pPr>
            <a:r>
              <a:t>Both datasets merge seamlessly via the 'customer_id'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Missing Values: Ensured 100% data completeness by checking for and removing nulls.</a:t>
            </a:r>
          </a:p>
          <a:p>
            <a:pPr>
              <a:defRPr sz="2400"/>
            </a:pPr>
            <a:r>
              <a:t>Duplicates: Identified and eliminated duplicate transaction rows to prevent skewed revenue metrics.</a:t>
            </a:r>
          </a:p>
          <a:p>
            <a:pPr>
              <a:defRPr sz="2400"/>
            </a:pPr>
            <a:r>
              <a:t>Date Formatting: Standardized 'trans_date' to a formal Datetime object for accurate time-series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 Merging: Performed an INNER JOIN on 'customer_id' to combine transactions with their campaign response.</a:t>
            </a:r>
          </a:p>
          <a:p>
            <a:pPr>
              <a:defRPr sz="2400"/>
            </a:pPr>
            <a:r>
              <a:t>Feature Engineering: Extracted actionable temporal features:</a:t>
            </a:r>
          </a:p>
          <a:p>
            <a:pPr>
              <a:defRPr sz="2400"/>
            </a:pPr>
            <a:r>
              <a:t>  - Year</a:t>
            </a:r>
          </a:p>
          <a:p>
            <a:pPr>
              <a:defRPr sz="2400"/>
            </a:pPr>
            <a:r>
              <a:t>  - Month</a:t>
            </a:r>
          </a:p>
          <a:p>
            <a:pPr>
              <a:defRPr sz="2400"/>
            </a:pPr>
            <a:r>
              <a:t>  - Quarter</a:t>
            </a:r>
          </a:p>
          <a:p>
            <a:pPr>
              <a:defRPr sz="2400"/>
            </a:pPr>
            <a:r>
              <a:t>Result: A clean, analysis-ready master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Built a robust, production-ready relational database schema ('retail_sales').</a:t>
            </a:r>
          </a:p>
          <a:p>
            <a:pPr>
              <a:defRPr sz="2400"/>
            </a:pPr>
            <a:r>
              <a:t>Configured 'customer_id' natively as VARCHAR to support alphanumeric identifiers (e.g. 'CS5295').</a:t>
            </a:r>
          </a:p>
          <a:p>
            <a:pPr>
              <a:defRPr sz="2400"/>
            </a:pPr>
            <a:r>
              <a:t>Executed core KPI aggregation queries: Total Revenue, Average Transaction, Top Customers, and Yearly Performance directly within the SQL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Total Revenue Generated: $8,123,673</a:t>
            </a:r>
          </a:p>
          <a:p>
            <a:pPr>
              <a:defRPr sz="2400"/>
            </a:pPr>
            <a:r>
              <a:t>Average Transaction Value: $64.99</a:t>
            </a:r>
          </a:p>
          <a:p>
            <a:pPr>
              <a:defRPr sz="2400"/>
            </a:pPr>
            <a:r>
              <a:t>Highest Performing Year: 2013 ($2,137,352), closely followed by 2012 and 2014.</a:t>
            </a:r>
          </a:p>
          <a:p>
            <a:pPr>
              <a:defRPr sz="2400"/>
            </a:pPr>
            <a:r>
              <a:t>Highest Performing Month: August ($726,775), indicating a strong late-summer sales trend.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Total Unique Customers: 6,884</a:t>
            </a:r>
          </a:p>
          <a:p>
            <a:pPr>
              <a:defRPr sz="2400"/>
            </a:pPr>
            <a:r>
              <a:t>Customer Response Rate: 11.07% (Responded), 88.93% (No Response).</a:t>
            </a:r>
          </a:p>
          <a:p>
            <a:pPr>
              <a:defRPr sz="2400"/>
            </a:pPr>
            <a:r>
              <a:t>Top Spender: Customer CS4424, generating $2,933 in lifetime value.</a:t>
            </a:r>
          </a:p>
          <a:p>
            <a:pPr>
              <a:defRPr sz="2400"/>
            </a:pPr>
            <a:r>
              <a:t>High engagement in specific segments warrants targeted re-engagement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Conducted an advanced Customer Segmentation model:</a:t>
            </a:r>
          </a:p>
          <a:p>
            <a:pPr>
              <a:defRPr sz="2400"/>
            </a:pPr>
            <a:r>
              <a:t>  - High Value: Top 25% of customers</a:t>
            </a:r>
          </a:p>
          <a:p>
            <a:pPr>
              <a:defRPr sz="2400"/>
            </a:pPr>
            <a:r>
              <a:t>  - Medium Value: Middle 50%</a:t>
            </a:r>
          </a:p>
          <a:p>
            <a:pPr>
              <a:defRPr sz="2400"/>
            </a:pPr>
            <a:r>
              <a:t>  - Low Value: Bottom 25%</a:t>
            </a:r>
          </a:p>
          <a:p>
            <a:pPr>
              <a:defRPr sz="2400"/>
            </a:pPr>
            <a:r>
              <a:t>Identified a core group of High Value customers who drive a disproportionate share of the revenue.</a:t>
            </a:r>
          </a:p>
          <a:p>
            <a:pPr>
              <a:defRPr sz="2400"/>
            </a:pPr>
            <a:r>
              <a:t>Focus future marketing spend heavily towards retaining the 'High Value' segment.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dataset was successfully transformed from raw CSV files into actionable business insights.</a:t>
            </a:r>
          </a:p>
          <a:p>
            <a:pPr>
              <a:defRPr sz="2400"/>
            </a:pPr>
            <a:r>
              <a:t>Revealed consistent yearly revenues with a slight dip in off-peak months.</a:t>
            </a:r>
          </a:p>
          <a:p>
            <a:pPr>
              <a:defRPr sz="2400"/>
            </a:pPr>
            <a:r>
              <a:t>The low campaign response rate (~11%) highlights an opportunity for improved marketing strategies.</a:t>
            </a:r>
          </a:p>
          <a:p>
            <a:pPr>
              <a:defRPr sz="2400"/>
            </a:pPr>
            <a:r>
              <a:t>The unified Excel dashboard and automated Python/SQL pipelines provide a scalable analytics foundation.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